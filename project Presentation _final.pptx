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5" r:id="rId1"/>
  </p:sldMasterIdLst>
  <p:notesMasterIdLst>
    <p:notesMasterId r:id="rId14"/>
  </p:notesMasterIdLst>
  <p:handoutMasterIdLst>
    <p:handoutMasterId r:id="rId15"/>
  </p:handoutMasterIdLst>
  <p:sldIdLst>
    <p:sldId id="258" r:id="rId2"/>
    <p:sldId id="663" r:id="rId3"/>
    <p:sldId id="367" r:id="rId4"/>
    <p:sldId id="688" r:id="rId5"/>
    <p:sldId id="671" r:id="rId6"/>
    <p:sldId id="689" r:id="rId7"/>
    <p:sldId id="673" r:id="rId8"/>
    <p:sldId id="691" r:id="rId9"/>
    <p:sldId id="690" r:id="rId10"/>
    <p:sldId id="682" r:id="rId11"/>
    <p:sldId id="667" r:id="rId12"/>
    <p:sldId id="662" r:id="rId1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7B9"/>
    <a:srgbClr val="CCFFFF"/>
    <a:srgbClr val="ADDB7B"/>
    <a:srgbClr val="ED4565"/>
    <a:srgbClr val="4BD0FF"/>
    <a:srgbClr val="F5D1F0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1" autoAdjust="0"/>
    <p:restoredTop sz="96328" autoAdjust="0"/>
  </p:normalViewPr>
  <p:slideViewPr>
    <p:cSldViewPr snapToGrid="0" snapToObjects="1">
      <p:cViewPr varScale="1">
        <p:scale>
          <a:sx n="68" d="100"/>
          <a:sy n="68" d="100"/>
        </p:scale>
        <p:origin x="1308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9EF5D35-FDDE-4DA9-A3BB-4F9FEF4F8F24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D74FF70-C9B7-4CC3-BDC2-03AF67D49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295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C73AFAE-66C4-4499-9902-2C873F30C27A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27AD995-0FC3-4575-86C4-F5EF43490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165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88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2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08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4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77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82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0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44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90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25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AD995-0FC3-4575-86C4-F5EF43490E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51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7ED8BB-578B-4551-83CB-73EA21EA98F5}" type="slidenum">
              <a:rPr lang="en-US"/>
              <a:pPr/>
              <a:t>12</a:t>
            </a:fld>
            <a:endParaRPr 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1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1782" y="569311"/>
            <a:ext cx="5655018" cy="204075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1782" y="2890346"/>
            <a:ext cx="5655017" cy="27484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0" y="0"/>
            <a:ext cx="2758966" cy="5940101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22242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338" y="274639"/>
            <a:ext cx="8123462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338" y="1600201"/>
            <a:ext cx="8123462" cy="39507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6234386" y="1600201"/>
            <a:ext cx="2452414" cy="2988015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2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402" y="4501931"/>
            <a:ext cx="7675313" cy="1267044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402" y="3011380"/>
            <a:ext cx="7675314" cy="139552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819401" y="378937"/>
            <a:ext cx="7675313" cy="2417007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458" y="274639"/>
            <a:ext cx="8287342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9458" y="1600201"/>
            <a:ext cx="4097003" cy="408386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2039" y="1600201"/>
            <a:ext cx="3954763" cy="408386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5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8966" y="274637"/>
            <a:ext cx="5927834" cy="7413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8966" y="1215232"/>
            <a:ext cx="299544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58966" y="1854994"/>
            <a:ext cx="2995448" cy="38597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586" y="1215232"/>
            <a:ext cx="2757214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586" y="1854994"/>
            <a:ext cx="2757214" cy="38597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55267" y="274637"/>
            <a:ext cx="2452414" cy="2623723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4"/>
          </p:nvPr>
        </p:nvSpPr>
        <p:spPr>
          <a:xfrm>
            <a:off x="155267" y="3116479"/>
            <a:ext cx="2452414" cy="2598308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11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16723" y="348214"/>
            <a:ext cx="3890524" cy="5233432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363309" y="348214"/>
            <a:ext cx="4435005" cy="530512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901" y="273049"/>
            <a:ext cx="5050305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4622" y="273052"/>
            <a:ext cx="2722179" cy="538028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901" y="1435102"/>
            <a:ext cx="5050305" cy="4218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5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703" y="4800601"/>
            <a:ext cx="7939097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47703" y="402898"/>
            <a:ext cx="7939097" cy="43246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703" y="5367338"/>
            <a:ext cx="7939097" cy="4396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4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.jpg"/>
          <p:cNvPicPr>
            <a:picLocks noChangeAspect="1"/>
          </p:cNvPicPr>
          <p:nvPr userDrawn="1"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707"/>
            <a:ext cx="9144000" cy="68777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48" y="274639"/>
            <a:ext cx="8000552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532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48" y="274639"/>
            <a:ext cx="8000552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248" y="1600201"/>
            <a:ext cx="8000552" cy="39507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3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48" y="274639"/>
            <a:ext cx="8000552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347419" y="3244334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8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401086" y="430146"/>
            <a:ext cx="8397229" cy="5182226"/>
          </a:xfrm>
          <a:prstGeom prst="rect">
            <a:avLst/>
          </a:prstGeo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2500" y="6527800"/>
            <a:ext cx="571500" cy="320675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E7C68A-9BF9-42E8-9113-150E7367E9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" y="-1"/>
            <a:ext cx="9143998" cy="731520"/>
          </a:xfrm>
          <a:prstGeom prst="rect">
            <a:avLst/>
          </a:prstGeom>
          <a:solidFill>
            <a:srgbClr val="410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" y="6523630"/>
            <a:ext cx="9143998" cy="334370"/>
          </a:xfrm>
          <a:prstGeom prst="rect">
            <a:avLst/>
          </a:prstGeom>
          <a:solidFill>
            <a:srgbClr val="410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" y="6550223"/>
            <a:ext cx="9143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Department of</a:t>
            </a:r>
            <a:r>
              <a:rPr lang="en-US" sz="14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Electrical and Computer Engineering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77" b="1460"/>
          <a:stretch/>
        </p:blipFill>
        <p:spPr>
          <a:xfrm>
            <a:off x="67316" y="6523630"/>
            <a:ext cx="470827" cy="3484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7318" y="80687"/>
            <a:ext cx="1302054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5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4" r:id="rId8"/>
    <p:sldLayoutId id="2147483685" r:id="rId9"/>
    <p:sldLayoutId id="2147483686" r:id="rId10"/>
    <p:sldLayoutId id="2147483688" r:id="rId11"/>
    <p:sldLayoutId id="2147483689" r:id="rId12"/>
    <p:sldLayoutId id="2147483673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2D2E2B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4565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4565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4565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4"/>
          <p:cNvSpPr txBox="1">
            <a:spLocks/>
          </p:cNvSpPr>
          <p:nvPr/>
        </p:nvSpPr>
        <p:spPr>
          <a:xfrm>
            <a:off x="0" y="1675268"/>
            <a:ext cx="9144000" cy="227023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Project Title: 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Creating a GUI for computing different norm for given Vectors/Matrixes </a:t>
            </a:r>
            <a:endParaRPr lang="en-US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Subtitle 1"/>
          <p:cNvSpPr txBox="1">
            <a:spLocks/>
          </p:cNvSpPr>
          <p:nvPr/>
        </p:nvSpPr>
        <p:spPr>
          <a:xfrm>
            <a:off x="2482600" y="4675551"/>
            <a:ext cx="4296103" cy="73901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rgbClr val="2D2E2B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54565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5456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rgbClr val="54565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Name : M M Nabi Rony</a:t>
            </a:r>
          </a:p>
        </p:txBody>
      </p:sp>
    </p:spTree>
    <p:extLst>
      <p:ext uri="{BB962C8B-B14F-4D97-AF65-F5344CB8AC3E}">
        <p14:creationId xmlns:p14="http://schemas.microsoft.com/office/powerpoint/2010/main" val="120531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20504" y="1294228"/>
            <a:ext cx="3924887" cy="3742006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charset="2"/>
              <a:buChar char="u"/>
            </a:pPr>
            <a:r>
              <a:rPr lang="en-US" sz="2400" dirty="0"/>
              <a:t>Overview</a:t>
            </a:r>
          </a:p>
          <a:p>
            <a:pPr>
              <a:lnSpc>
                <a:spcPct val="150000"/>
              </a:lnSpc>
              <a:buFont typeface="Wingdings" charset="2"/>
              <a:buChar char="u"/>
            </a:pPr>
            <a:r>
              <a:rPr lang="en-US" sz="2400" dirty="0"/>
              <a:t>Methodology</a:t>
            </a:r>
          </a:p>
          <a:p>
            <a:pPr>
              <a:lnSpc>
                <a:spcPct val="150000"/>
              </a:lnSpc>
              <a:buFont typeface="Wingdings" charset="2"/>
              <a:buChar char="u"/>
            </a:pPr>
            <a:r>
              <a:rPr lang="en-US" sz="2400" dirty="0"/>
              <a:t>Results</a:t>
            </a:r>
          </a:p>
          <a:p>
            <a:pPr>
              <a:lnSpc>
                <a:spcPct val="150000"/>
              </a:lnSpc>
              <a:buFont typeface="Wingdings" charset="2"/>
              <a:buChar char="u"/>
            </a:pPr>
            <a:r>
              <a:rPr lang="en-US" sz="2400" dirty="0"/>
              <a:t>Conclusion</a:t>
            </a:r>
          </a:p>
          <a:p>
            <a:pPr>
              <a:lnSpc>
                <a:spcPct val="150000"/>
              </a:lnSpc>
              <a:buFont typeface="Wingdings" charset="2"/>
              <a:buChar char="u"/>
            </a:pPr>
            <a:r>
              <a:rPr lang="en-US" sz="24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56087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1306" y="953814"/>
            <a:ext cx="8496944" cy="5209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2"/>
              <a:buChar char="u"/>
            </a:pPr>
            <a:r>
              <a:rPr lang="en-US" sz="2400" dirty="0"/>
              <a:t> </a:t>
            </a:r>
            <a:r>
              <a:rPr lang="en-US" sz="2200" dirty="0"/>
              <a:t>A MATLAB GUI is developed. </a:t>
            </a:r>
          </a:p>
          <a:p>
            <a:pPr>
              <a:buFont typeface="Wingdings" charset="2"/>
              <a:buChar char="u"/>
            </a:pPr>
            <a:r>
              <a:rPr lang="en-US" sz="2200" dirty="0"/>
              <a:t> Three types of Norms are calculated</a:t>
            </a:r>
          </a:p>
          <a:p>
            <a:pPr>
              <a:buFont typeface="Wingdings" charset="2"/>
              <a:buChar char="u"/>
            </a:pPr>
            <a:r>
              <a:rPr lang="en-US" sz="2200" dirty="0"/>
              <a:t> User input vector/Matrix</a:t>
            </a:r>
          </a:p>
          <a:p>
            <a:pPr>
              <a:buFont typeface="Wingdings" charset="2"/>
              <a:buChar char="u"/>
            </a:pPr>
            <a:r>
              <a:rPr lang="en-US" sz="2200" dirty="0"/>
              <a:t> Norm selection </a:t>
            </a:r>
          </a:p>
          <a:p>
            <a:pPr>
              <a:buFont typeface="Wingdings" charset="2"/>
              <a:buChar char="u"/>
            </a:pPr>
            <a:r>
              <a:rPr lang="en-US" sz="2200" dirty="0"/>
              <a:t> Display Norm result</a:t>
            </a:r>
          </a:p>
          <a:p>
            <a:pPr>
              <a:buFont typeface="Wingdings" charset="2"/>
              <a:buChar char="u"/>
            </a:pPr>
            <a:r>
              <a:rPr lang="en-US" sz="2200" dirty="0"/>
              <a:t>Unit Ball for Norm output. </a:t>
            </a:r>
          </a:p>
        </p:txBody>
      </p:sp>
    </p:spTree>
    <p:extLst>
      <p:ext uri="{BB962C8B-B14F-4D97-AF65-F5344CB8AC3E}">
        <p14:creationId xmlns:p14="http://schemas.microsoft.com/office/powerpoint/2010/main" val="128163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1306" y="953814"/>
            <a:ext cx="8496944" cy="5209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i="1" u="sng" dirty="0"/>
              <a:t>L1</a:t>
            </a:r>
            <a:r>
              <a:rPr lang="en-US" sz="2200" b="1" u="sng" dirty="0"/>
              <a:t> norm:</a:t>
            </a:r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</p:txBody>
      </p:sp>
      <p:pic>
        <p:nvPicPr>
          <p:cNvPr id="5" name="Picture 4" descr="A picture containing scatter chart&#10;&#10;Description automatically generated">
            <a:extLst>
              <a:ext uri="{FF2B5EF4-FFF2-40B4-BE49-F238E27FC236}">
                <a16:creationId xmlns:a16="http://schemas.microsoft.com/office/drawing/2014/main" id="{950758D3-9483-4474-9F29-9F00C8B8E67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4333" y="1884660"/>
            <a:ext cx="2725663" cy="1966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A0D5BE-FABC-45E3-A1A1-E8B82D727DE6}"/>
                  </a:ext>
                </a:extLst>
              </p:cNvPr>
              <p:cNvSpPr txBox="1"/>
              <p:nvPr/>
            </p:nvSpPr>
            <p:spPr>
              <a:xfrm>
                <a:off x="3778015" y="1777705"/>
                <a:ext cx="3772263" cy="40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||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………….</m:t>
                        </m:r>
                      </m:e>
                    </m:nary>
                  </m:oMath>
                </a14:m>
                <a:r>
                  <a:rPr lang="en-US" dirty="0"/>
                  <a:t> [1]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A0D5BE-FABC-45E3-A1A1-E8B82D727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015" y="1777705"/>
                <a:ext cx="3772263" cy="401072"/>
              </a:xfrm>
              <a:prstGeom prst="rect">
                <a:avLst/>
              </a:prstGeom>
              <a:blipFill>
                <a:blip r:embed="rId4"/>
                <a:stretch>
                  <a:fillRect l="-808" t="-123077" b="-18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574CB5-C46A-4B01-957F-EEAF24AA7F5A}"/>
                  </a:ext>
                </a:extLst>
              </p:cNvPr>
              <p:cNvSpPr txBox="1"/>
              <p:nvPr/>
            </p:nvSpPr>
            <p:spPr>
              <a:xfrm>
                <a:off x="3189996" y="4160914"/>
                <a:ext cx="4579034" cy="385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1200"/>
                  </a:spcBef>
                  <a:spcAft>
                    <a:spcPts val="1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||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|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endParaRPr lang="en-US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Vrinda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574CB5-C46A-4B01-957F-EEAF24AA7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996" y="4160914"/>
                <a:ext cx="4579034" cy="385362"/>
              </a:xfrm>
              <a:prstGeom prst="rect">
                <a:avLst/>
              </a:prstGeom>
              <a:blipFill>
                <a:blip r:embed="rId5"/>
                <a:stretch>
                  <a:fillRect t="-4762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E2E42AE-A27B-4F5C-AD4E-A494B4818487}"/>
              </a:ext>
            </a:extLst>
          </p:cNvPr>
          <p:cNvSpPr txBox="1"/>
          <p:nvPr/>
        </p:nvSpPr>
        <p:spPr>
          <a:xfrm>
            <a:off x="858129" y="4262511"/>
            <a:ext cx="12426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dirty="0"/>
              <a:t>x = [4 5 6];</a:t>
            </a:r>
          </a:p>
          <a:p>
            <a:r>
              <a:rPr lang="en-US" dirty="0"/>
              <a:t>y = [1 2 3 ]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4EBD71-16DC-40ED-B77D-B18B9FF070CF}"/>
                  </a:ext>
                </a:extLst>
              </p:cNvPr>
              <p:cNvSpPr txBox="1"/>
              <p:nvPr/>
            </p:nvSpPr>
            <p:spPr>
              <a:xfrm>
                <a:off x="4203660" y="4694254"/>
                <a:ext cx="45790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|4−1</m:t>
                    </m:r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 |5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6−3|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4EBD71-16DC-40ED-B77D-B18B9FF07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660" y="4694254"/>
                <a:ext cx="4579034" cy="369332"/>
              </a:xfrm>
              <a:prstGeom prst="rect">
                <a:avLst/>
              </a:prstGeom>
              <a:blipFill>
                <a:blip r:embed="rId6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36EE43-8ED3-41D8-8704-D222CE711CE9}"/>
                  </a:ext>
                </a:extLst>
              </p:cNvPr>
              <p:cNvSpPr txBox="1"/>
              <p:nvPr/>
            </p:nvSpPr>
            <p:spPr>
              <a:xfrm>
                <a:off x="2169385" y="5266580"/>
                <a:ext cx="45790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36EE43-8ED3-41D8-8704-D222CE711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385" y="5266580"/>
                <a:ext cx="45790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2658BE7-D476-4699-B1B6-7B3093FDB44B}"/>
              </a:ext>
            </a:extLst>
          </p:cNvPr>
          <p:cNvSpPr txBox="1"/>
          <p:nvPr/>
        </p:nvSpPr>
        <p:spPr>
          <a:xfrm>
            <a:off x="442291" y="1534421"/>
            <a:ext cx="1627369" cy="38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ℝ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space [2]: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07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1306" y="953814"/>
            <a:ext cx="8496944" cy="5209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i="1" u="sng" dirty="0"/>
              <a:t>L2</a:t>
            </a:r>
            <a:r>
              <a:rPr lang="en-US" sz="2200" b="1" u="sng" dirty="0"/>
              <a:t> norm</a:t>
            </a:r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E42AE-A27B-4F5C-AD4E-A494B4818487}"/>
              </a:ext>
            </a:extLst>
          </p:cNvPr>
          <p:cNvSpPr txBox="1"/>
          <p:nvPr/>
        </p:nvSpPr>
        <p:spPr>
          <a:xfrm>
            <a:off x="858129" y="4262511"/>
            <a:ext cx="12426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dirty="0"/>
              <a:t>x = [4 5 6];</a:t>
            </a:r>
          </a:p>
          <a:p>
            <a:r>
              <a:rPr lang="en-US" dirty="0"/>
              <a:t>y = [1 2 3 ]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3CBA3C-002F-4ACD-B946-7D94513B0E69}"/>
                  </a:ext>
                </a:extLst>
              </p:cNvPr>
              <p:cNvSpPr txBox="1"/>
              <p:nvPr/>
            </p:nvSpPr>
            <p:spPr>
              <a:xfrm>
                <a:off x="3454119" y="1632997"/>
                <a:ext cx="4579034" cy="1001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||x||</a:t>
                </a:r>
                <a:r>
                  <a:rPr lang="en-US" sz="2000" baseline="-25000" dirty="0"/>
                  <a:t>2</a:t>
                </a:r>
                <a14:m>
                  <m:oMath xmlns:m="http://schemas.openxmlformats.org/officeDocument/2006/math"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grow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"/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………..[3]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3CBA3C-002F-4ACD-B946-7D94513B0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119" y="1632997"/>
                <a:ext cx="4579034" cy="1001684"/>
              </a:xfrm>
              <a:prstGeom prst="rect">
                <a:avLst/>
              </a:prstGeom>
              <a:blipFill>
                <a:blip r:embed="rId3"/>
                <a:stretch>
                  <a:fillRect l="-1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2DC7F87A-EE76-4D69-B161-E9A668BA66F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61306" y="1947907"/>
            <a:ext cx="2828690" cy="1950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DAB9AB-9C1C-4103-B1E0-739F1FD1DFDB}"/>
                  </a:ext>
                </a:extLst>
              </p:cNvPr>
              <p:cNvSpPr txBox="1"/>
              <p:nvPr/>
            </p:nvSpPr>
            <p:spPr>
              <a:xfrm>
                <a:off x="3189996" y="3830744"/>
                <a:ext cx="5382504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DAB9AB-9C1C-4103-B1E0-739F1FD1D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996" y="3830744"/>
                <a:ext cx="5382504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6550FD-2E4D-4C0D-940A-FF71E446F6AE}"/>
                  </a:ext>
                </a:extLst>
              </p:cNvPr>
              <p:cNvSpPr txBox="1"/>
              <p:nvPr/>
            </p:nvSpPr>
            <p:spPr>
              <a:xfrm>
                <a:off x="3189996" y="4674629"/>
                <a:ext cx="5382504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d>
                          </m:e>
                          <m:sup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(5−2</m:t>
                                </m:r>
                              </m:e>
                            </m:d>
                          </m:e>
                          <m:sup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6−3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6550FD-2E4D-4C0D-940A-FF71E446F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996" y="4674629"/>
                <a:ext cx="5382504" cy="427746"/>
              </a:xfrm>
              <a:prstGeom prst="rect">
                <a:avLst/>
              </a:prstGeom>
              <a:blipFill>
                <a:blip r:embed="rId6"/>
                <a:stretch>
                  <a:fillRect t="-91429" b="-1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379423-412F-4B13-827F-F11FC53870FE}"/>
                  </a:ext>
                </a:extLst>
              </p:cNvPr>
              <p:cNvSpPr txBox="1"/>
              <p:nvPr/>
            </p:nvSpPr>
            <p:spPr>
              <a:xfrm>
                <a:off x="3189996" y="5205188"/>
                <a:ext cx="5382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5.1962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379423-412F-4B13-827F-F11FC5387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996" y="5205188"/>
                <a:ext cx="53825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20E7CB7-FD6A-4873-B98C-7D8E9DD13D43}"/>
              </a:ext>
            </a:extLst>
          </p:cNvPr>
          <p:cNvSpPr txBox="1"/>
          <p:nvPr/>
        </p:nvSpPr>
        <p:spPr>
          <a:xfrm>
            <a:off x="442291" y="1534421"/>
            <a:ext cx="1627369" cy="38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ℝ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space [2]: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22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1306" y="953814"/>
            <a:ext cx="8496944" cy="5209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i="1" u="sng" dirty="0"/>
              <a:t>L-inf</a:t>
            </a:r>
            <a:r>
              <a:rPr lang="en-US" sz="2200" b="1" u="sng" dirty="0"/>
              <a:t> norm</a:t>
            </a:r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  <a:p>
            <a:pPr>
              <a:buFont typeface="Wingdings" charset="2"/>
              <a:buChar char="u"/>
            </a:pP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E42AE-A27B-4F5C-AD4E-A494B4818487}"/>
              </a:ext>
            </a:extLst>
          </p:cNvPr>
          <p:cNvSpPr txBox="1"/>
          <p:nvPr/>
        </p:nvSpPr>
        <p:spPr>
          <a:xfrm>
            <a:off x="858129" y="4262511"/>
            <a:ext cx="12426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dirty="0"/>
              <a:t>x = [4 5 6];</a:t>
            </a:r>
          </a:p>
          <a:p>
            <a:r>
              <a:rPr lang="en-US" dirty="0"/>
              <a:t>y = [1 2 3 ]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F659F9-7727-406C-904C-EBF90AF533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5750" y="1950283"/>
            <a:ext cx="2721781" cy="2069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E7E7DE-B335-4281-B4A8-B8CDFAB88158}"/>
                  </a:ext>
                </a:extLst>
              </p:cNvPr>
              <p:cNvSpPr txBox="1"/>
              <p:nvPr/>
            </p:nvSpPr>
            <p:spPr>
              <a:xfrm>
                <a:off x="3799361" y="1739912"/>
                <a:ext cx="4177021" cy="630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</m:e>
                      <m:sub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0">
                                <a:latin typeface="Cambria Math" panose="02040503050406030204" pitchFamily="18" charset="0"/>
                              </a:rPr>
                              <m:t>= 1,....,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………. [4]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E7E7DE-B335-4281-B4A8-B8CDFAB88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361" y="1739912"/>
                <a:ext cx="4177021" cy="630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6646D0-438C-44C8-8979-6464F116945A}"/>
                  </a:ext>
                </a:extLst>
              </p:cNvPr>
              <p:cNvSpPr txBox="1"/>
              <p:nvPr/>
            </p:nvSpPr>
            <p:spPr>
              <a:xfrm>
                <a:off x="3189996" y="3938988"/>
                <a:ext cx="5095875" cy="416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6646D0-438C-44C8-8979-6464F1169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996" y="3938988"/>
                <a:ext cx="5095875" cy="416909"/>
              </a:xfrm>
              <a:prstGeom prst="rect">
                <a:avLst/>
              </a:prstGeom>
              <a:blipFill>
                <a:blip r:embed="rId5"/>
                <a:stretch>
                  <a:fillRect t="-149275" r="-11364" b="-2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929F8D-F19E-468E-83D3-4B2B20180975}"/>
                  </a:ext>
                </a:extLst>
              </p:cNvPr>
              <p:cNvSpPr txBox="1"/>
              <p:nvPr/>
            </p:nvSpPr>
            <p:spPr>
              <a:xfrm>
                <a:off x="3349194" y="4526088"/>
                <a:ext cx="50958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4−1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,|5−2|,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|6−3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929F8D-F19E-468E-83D3-4B2B20180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94" y="4526088"/>
                <a:ext cx="5095875" cy="369332"/>
              </a:xfrm>
              <a:prstGeom prst="rect">
                <a:avLst/>
              </a:prstGeom>
              <a:blipFill>
                <a:blip r:embed="rId6"/>
                <a:stretch>
                  <a:fillRect t="-119672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11AE2C-C831-40BF-980D-8B18321C9988}"/>
                  </a:ext>
                </a:extLst>
              </p:cNvPr>
              <p:cNvSpPr txBox="1"/>
              <p:nvPr/>
            </p:nvSpPr>
            <p:spPr>
              <a:xfrm>
                <a:off x="3349195" y="5021427"/>
                <a:ext cx="24888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11AE2C-C831-40BF-980D-8B18321C9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95" y="5021427"/>
                <a:ext cx="24888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337B6D7-1BAB-4F71-B4A3-779B825643F5}"/>
              </a:ext>
            </a:extLst>
          </p:cNvPr>
          <p:cNvSpPr txBox="1"/>
          <p:nvPr/>
        </p:nvSpPr>
        <p:spPr>
          <a:xfrm>
            <a:off x="442291" y="1534421"/>
            <a:ext cx="1627369" cy="38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ℝ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space [2]: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44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B576E-B4DD-49BB-8916-DB67770E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46" y="1490339"/>
            <a:ext cx="5412823" cy="4251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FD654B-A6AF-4EF6-822B-BC7D7CABE904}"/>
              </a:ext>
            </a:extLst>
          </p:cNvPr>
          <p:cNvSpPr txBox="1"/>
          <p:nvPr/>
        </p:nvSpPr>
        <p:spPr>
          <a:xfrm>
            <a:off x="404446" y="875814"/>
            <a:ext cx="457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i="1" u="sng" dirty="0"/>
              <a:t>L1</a:t>
            </a:r>
            <a:r>
              <a:rPr lang="en-US" sz="1800" b="1" u="sng" dirty="0"/>
              <a:t>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8DB49A-93A8-450D-B5AF-1C3C7C99D95F}"/>
                  </a:ext>
                </a:extLst>
              </p:cNvPr>
              <p:cNvSpPr txBox="1"/>
              <p:nvPr/>
            </p:nvSpPr>
            <p:spPr>
              <a:xfrm>
                <a:off x="6082352" y="2855742"/>
                <a:ext cx="265720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 vector with unit norm</a:t>
                </a:r>
              </a:p>
              <a:p>
                <a:pPr algn="ctr"/>
                <a:r>
                  <a:rPr lang="en-US" dirty="0"/>
                  <a:t>For L1 norm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|X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 | Y | = 1</a:t>
                </a:r>
              </a:p>
              <a:p>
                <a:pPr algn="ctr"/>
                <a:endPara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Creates a diamond shape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8DB49A-93A8-450D-B5AF-1C3C7C99D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52" y="2855742"/>
                <a:ext cx="2657202" cy="1754326"/>
              </a:xfrm>
              <a:prstGeom prst="rect">
                <a:avLst/>
              </a:prstGeom>
              <a:blipFill>
                <a:blip r:embed="rId4"/>
                <a:stretch>
                  <a:fillRect l="-1376" t="-1736" r="-114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A56E90-9BCD-4306-B666-81BA346B535C}"/>
              </a:ext>
            </a:extLst>
          </p:cNvPr>
          <p:cNvSpPr txBox="1"/>
          <p:nvPr/>
        </p:nvSpPr>
        <p:spPr>
          <a:xfrm>
            <a:off x="379828" y="5982186"/>
            <a:ext cx="5234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GUI is created in MATLAB app designer tool [5]. </a:t>
            </a:r>
          </a:p>
        </p:txBody>
      </p:sp>
    </p:spTree>
    <p:extLst>
      <p:ext uri="{BB962C8B-B14F-4D97-AF65-F5344CB8AC3E}">
        <p14:creationId xmlns:p14="http://schemas.microsoft.com/office/powerpoint/2010/main" val="380822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C51D04-8850-40BD-83E9-8003F533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75" y="1453961"/>
            <a:ext cx="5495925" cy="4324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DD0B2A-85CD-4916-A2F8-576D7831EAAA}"/>
              </a:ext>
            </a:extLst>
          </p:cNvPr>
          <p:cNvSpPr txBox="1"/>
          <p:nvPr/>
        </p:nvSpPr>
        <p:spPr>
          <a:xfrm>
            <a:off x="235634" y="920899"/>
            <a:ext cx="457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i="1" u="sng" dirty="0"/>
              <a:t>L2</a:t>
            </a:r>
            <a:r>
              <a:rPr lang="en-US" sz="1800" b="1" u="sng" dirty="0"/>
              <a:t>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14CB11-8C40-4168-A6CF-C5932270AD2A}"/>
                  </a:ext>
                </a:extLst>
              </p:cNvPr>
              <p:cNvSpPr txBox="1"/>
              <p:nvPr/>
            </p:nvSpPr>
            <p:spPr>
              <a:xfrm>
                <a:off x="6007363" y="2855742"/>
                <a:ext cx="2807180" cy="2065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 vector with unit norm</a:t>
                </a:r>
              </a:p>
              <a:p>
                <a:pPr algn="ctr"/>
                <a:r>
                  <a:rPr lang="en-US" dirty="0"/>
                  <a:t>For L2 norm</a:t>
                </a:r>
              </a:p>
              <a:p>
                <a:pPr algn="ctr"/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</a:t>
                </a:r>
              </a:p>
              <a:p>
                <a:pPr algn="ctr"/>
                <a:r>
                  <a:rPr lang="en-US" dirty="0"/>
                  <a:t>Which is a circle equation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14CB11-8C40-4168-A6CF-C5932270A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363" y="2855742"/>
                <a:ext cx="2807180" cy="2065245"/>
              </a:xfrm>
              <a:prstGeom prst="rect">
                <a:avLst/>
              </a:prstGeom>
              <a:blipFill>
                <a:blip r:embed="rId4"/>
                <a:stretch>
                  <a:fillRect l="-1085" t="-1475" r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32A9B52-049F-4DA7-B6BE-EAF6F912F45B}"/>
              </a:ext>
            </a:extLst>
          </p:cNvPr>
          <p:cNvSpPr txBox="1"/>
          <p:nvPr/>
        </p:nvSpPr>
        <p:spPr>
          <a:xfrm>
            <a:off x="379828" y="5982186"/>
            <a:ext cx="5234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GUI is created in MATLAB app designer tool [5]. </a:t>
            </a:r>
          </a:p>
        </p:txBody>
      </p:sp>
    </p:spTree>
    <p:extLst>
      <p:ext uri="{BB962C8B-B14F-4D97-AF65-F5344CB8AC3E}">
        <p14:creationId xmlns:p14="http://schemas.microsoft.com/office/powerpoint/2010/main" val="2429075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3308AA-81BF-4A1F-947B-B5AFB6D24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8" y="1463486"/>
            <a:ext cx="5505450" cy="430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D07AB-BC7E-4111-AAFB-A567F15467A7}"/>
              </a:ext>
            </a:extLst>
          </p:cNvPr>
          <p:cNvSpPr txBox="1"/>
          <p:nvPr/>
        </p:nvSpPr>
        <p:spPr>
          <a:xfrm>
            <a:off x="179363" y="891164"/>
            <a:ext cx="457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i="1" u="sng" dirty="0"/>
              <a:t>L-inf</a:t>
            </a:r>
            <a:r>
              <a:rPr lang="en-US" sz="1800" b="1" u="sng" dirty="0"/>
              <a:t> norm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B848E7-B719-4631-AB09-CAEED2EBFF32}"/>
                  </a:ext>
                </a:extLst>
              </p:cNvPr>
              <p:cNvSpPr txBox="1"/>
              <p:nvPr/>
            </p:nvSpPr>
            <p:spPr>
              <a:xfrm>
                <a:off x="6309453" y="2869810"/>
                <a:ext cx="265720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 vector with unit norm</a:t>
                </a:r>
              </a:p>
              <a:p>
                <a:pPr algn="ctr"/>
                <a:r>
                  <a:rPr lang="en-US" dirty="0"/>
                  <a:t>For L-inf norm</a:t>
                </a:r>
              </a:p>
              <a:p>
                <a:pPr algn="ctr"/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𝑀𝐴𝑋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= 1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Creates a square shape</a:t>
                </a:r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B848E7-B719-4631-AB09-CAEED2EBF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453" y="2869810"/>
                <a:ext cx="2657202" cy="2031325"/>
              </a:xfrm>
              <a:prstGeom prst="rect">
                <a:avLst/>
              </a:prstGeom>
              <a:blipFill>
                <a:blip r:embed="rId4"/>
                <a:stretch>
                  <a:fillRect l="-1147" t="-1802" r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B5D15DD-FB40-4C57-8E39-B6DAF07B5A9F}"/>
              </a:ext>
            </a:extLst>
          </p:cNvPr>
          <p:cNvSpPr txBox="1"/>
          <p:nvPr/>
        </p:nvSpPr>
        <p:spPr>
          <a:xfrm>
            <a:off x="379828" y="5982186"/>
            <a:ext cx="5234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GUI is created in MATLAB app designer tool [5]. </a:t>
            </a:r>
          </a:p>
        </p:txBody>
      </p:sp>
    </p:spTree>
    <p:extLst>
      <p:ext uri="{BB962C8B-B14F-4D97-AF65-F5344CB8AC3E}">
        <p14:creationId xmlns:p14="http://schemas.microsoft.com/office/powerpoint/2010/main" val="285792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1306" y="953814"/>
            <a:ext cx="8496944" cy="5209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2"/>
              <a:buChar char="u"/>
            </a:pPr>
            <a:r>
              <a:rPr lang="en-US" sz="2400" dirty="0"/>
              <a:t>Limitations-</a:t>
            </a:r>
          </a:p>
          <a:p>
            <a:pPr lvl="1">
              <a:buFont typeface="Wingdings" charset="2"/>
              <a:buChar char="u"/>
            </a:pPr>
            <a:r>
              <a:rPr lang="en-US" sz="2000" dirty="0"/>
              <a:t> Cannot handle large Matrix</a:t>
            </a:r>
          </a:p>
          <a:p>
            <a:pPr lvl="1">
              <a:buFont typeface="Wingdings" charset="2"/>
              <a:buChar char="u"/>
            </a:pPr>
            <a:r>
              <a:rPr lang="en-US" sz="2000" dirty="0"/>
              <a:t> Only three types of norms.</a:t>
            </a:r>
          </a:p>
          <a:p>
            <a:pPr lvl="1">
              <a:buFont typeface="Wingdings" charset="2"/>
              <a:buChar char="u"/>
            </a:pPr>
            <a:endParaRPr lang="en-US" sz="2000" dirty="0"/>
          </a:p>
          <a:p>
            <a:pPr>
              <a:buFont typeface="Wingdings" charset="2"/>
              <a:buChar char="u"/>
            </a:pPr>
            <a:r>
              <a:rPr lang="en-US" sz="2400" dirty="0"/>
              <a:t>Improvement -</a:t>
            </a:r>
          </a:p>
          <a:p>
            <a:pPr lvl="1">
              <a:buFont typeface="Wingdings" charset="2"/>
              <a:buChar char="u"/>
            </a:pPr>
            <a:r>
              <a:rPr lang="en-US" sz="2000" dirty="0"/>
              <a:t> Make it handle large data</a:t>
            </a:r>
          </a:p>
          <a:p>
            <a:pPr lvl="1">
              <a:buFont typeface="Wingdings" charset="2"/>
              <a:buChar char="u"/>
            </a:pPr>
            <a:r>
              <a:rPr lang="en-US" sz="2000" dirty="0"/>
              <a:t> All types of norm can be analyzed. 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2742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5153" y="55185"/>
            <a:ext cx="7226490" cy="649287"/>
          </a:xfrm>
        </p:spPr>
        <p:txBody>
          <a:bodyPr anchor="ctr">
            <a:no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1306" y="953814"/>
            <a:ext cx="8496944" cy="5209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q"/>
              <a:defRPr sz="32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Futura Bk B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[1] Krause, Eugene F. Taxicab geometry: An adventure in non-Euclidean geometry. Courier Corporation, 1986.</a:t>
            </a:r>
          </a:p>
          <a:p>
            <a:pPr marL="0" indent="0">
              <a:buNone/>
            </a:pPr>
            <a:r>
              <a:rPr lang="en-US" sz="1400" dirty="0"/>
              <a:t>[2] Lecture Note “ECE-6990- Mathematical Foundations of Machine Learning, Spring 2021”</a:t>
            </a:r>
          </a:p>
          <a:p>
            <a:pPr marL="0" indent="0">
              <a:buNone/>
            </a:pPr>
            <a:r>
              <a:rPr lang="en-US" sz="1400" dirty="0"/>
              <a:t>[3] </a:t>
            </a:r>
            <a:r>
              <a:rPr lang="en-US" sz="1400" dirty="0" err="1"/>
              <a:t>Liberti</a:t>
            </a:r>
            <a:r>
              <a:rPr lang="en-US" sz="1400" dirty="0"/>
              <a:t>, Leo, and </a:t>
            </a:r>
            <a:r>
              <a:rPr lang="en-US" sz="1400" dirty="0" err="1"/>
              <a:t>Carlile</a:t>
            </a:r>
            <a:r>
              <a:rPr lang="en-US" sz="1400" dirty="0"/>
              <a:t> Lavor. Euclidean distance geometry: an introduction. Springer, 2017.</a:t>
            </a:r>
          </a:p>
          <a:p>
            <a:pPr marL="0" indent="0">
              <a:buNone/>
            </a:pPr>
            <a:r>
              <a:rPr lang="en-US" sz="1400" dirty="0"/>
              <a:t>[4] Rudin, Walter. Principles of mathematical analysis. Vol. 3. New York: </a:t>
            </a:r>
            <a:r>
              <a:rPr lang="en-US" sz="1400" dirty="0" err="1"/>
              <a:t>McGraw-hill</a:t>
            </a:r>
            <a:r>
              <a:rPr lang="en-US" sz="1400" dirty="0"/>
              <a:t>, 1976.</a:t>
            </a:r>
          </a:p>
          <a:p>
            <a:pPr marL="0" indent="0">
              <a:buNone/>
            </a:pPr>
            <a:r>
              <a:rPr lang="en-US" sz="1400" dirty="0"/>
              <a:t>[5] Harun, Nor </a:t>
            </a:r>
            <a:r>
              <a:rPr lang="en-US" sz="1400" dirty="0" err="1"/>
              <a:t>Hazlyna</a:t>
            </a:r>
            <a:r>
              <a:rPr lang="en-US" sz="1400" dirty="0"/>
              <a:t>, </a:t>
            </a:r>
            <a:r>
              <a:rPr lang="en-US" sz="1400" dirty="0" err="1"/>
              <a:t>Hamirul‘Aini</a:t>
            </a:r>
            <a:r>
              <a:rPr lang="en-US" sz="1400" dirty="0"/>
              <a:t> </a:t>
            </a:r>
            <a:r>
              <a:rPr lang="en-US" sz="1400" dirty="0" err="1"/>
              <a:t>Hambali</a:t>
            </a:r>
            <a:r>
              <a:rPr lang="en-US" sz="1400" dirty="0"/>
              <a:t>, Mohamad </a:t>
            </a:r>
            <a:r>
              <a:rPr lang="en-US" sz="1400" dirty="0" err="1"/>
              <a:t>Ghozali</a:t>
            </a:r>
            <a:r>
              <a:rPr lang="en-US" sz="1400" dirty="0"/>
              <a:t> Hassan, and </a:t>
            </a:r>
            <a:r>
              <a:rPr lang="en-US" sz="1400" dirty="0" err="1"/>
              <a:t>Khairah</a:t>
            </a:r>
            <a:r>
              <a:rPr lang="en-US" sz="1400" dirty="0"/>
              <a:t> </a:t>
            </a:r>
            <a:r>
              <a:rPr lang="en-US" sz="1400" dirty="0" err="1"/>
              <a:t>Nazurah</a:t>
            </a:r>
            <a:r>
              <a:rPr lang="en-US" sz="1400" dirty="0"/>
              <a:t> Karim. MATLAB APP Designer: Learn By Example (UUM Press). UUM Press, 2017.</a:t>
            </a:r>
          </a:p>
        </p:txBody>
      </p:sp>
    </p:spTree>
    <p:extLst>
      <p:ext uri="{BB962C8B-B14F-4D97-AF65-F5344CB8AC3E}">
        <p14:creationId xmlns:p14="http://schemas.microsoft.com/office/powerpoint/2010/main" val="416941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56390"/>
            <a:ext cx="7772400" cy="1143000"/>
          </a:xfrm>
        </p:spPr>
        <p:txBody>
          <a:bodyPr anchor="ctr">
            <a:normAutofit fontScale="90000"/>
          </a:bodyPr>
          <a:lstStyle/>
          <a:p>
            <a:r>
              <a:rPr lang="en-US" sz="7200" b="1" kern="1200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Arial" charset="0"/>
                <a:ea typeface="+mn-ea"/>
                <a:cs typeface="Times New Roman" pitchFamily="18" charset="0"/>
              </a:rPr>
              <a:t>Thank You!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76855" y="3339342"/>
            <a:ext cx="31902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Contact:</a:t>
            </a:r>
          </a:p>
          <a:p>
            <a:pPr algn="ctr"/>
            <a:r>
              <a:rPr lang="en-US" b="1" dirty="0"/>
              <a:t>Name: M </a:t>
            </a:r>
            <a:r>
              <a:rPr lang="en-US" b="1" dirty="0" err="1"/>
              <a:t>M</a:t>
            </a:r>
            <a:r>
              <a:rPr lang="en-US" b="1" dirty="0"/>
              <a:t> Nabi</a:t>
            </a:r>
          </a:p>
          <a:p>
            <a:pPr algn="ctr"/>
            <a:r>
              <a:rPr lang="en-US" b="1" dirty="0"/>
              <a:t>Email: nabi.rony@gmail.com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4E7C68A-9BF9-42E8-9113-150E7367E90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69363"/>
      </p:ext>
    </p:extLst>
  </p:cSld>
  <p:clrMapOvr>
    <a:masterClrMapping/>
  </p:clrMapOvr>
</p:sld>
</file>

<file path=ppt/theme/theme1.xml><?xml version="1.0" encoding="utf-8"?>
<a:theme xmlns:a="http://schemas.openxmlformats.org/drawingml/2006/main" name="MSU_Maroon&amp;Grey">
  <a:themeElements>
    <a:clrScheme name="Custom 1">
      <a:dk1>
        <a:sysClr val="windowText" lastClr="000000"/>
      </a:dk1>
      <a:lt1>
        <a:sysClr val="window" lastClr="FFFFFF"/>
      </a:lt1>
      <a:dk2>
        <a:srgbClr val="5E091A"/>
      </a:dk2>
      <a:lt2>
        <a:srgbClr val="E2E4DB"/>
      </a:lt2>
      <a:accent1>
        <a:srgbClr val="5E091A"/>
      </a:accent1>
      <a:accent2>
        <a:srgbClr val="410611"/>
      </a:accent2>
      <a:accent3>
        <a:srgbClr val="545651"/>
      </a:accent3>
      <a:accent4>
        <a:srgbClr val="848780"/>
      </a:accent4>
      <a:accent5>
        <a:srgbClr val="B9BDB3"/>
      </a:accent5>
      <a:accent6>
        <a:srgbClr val="890C25"/>
      </a:accent6>
      <a:hlink>
        <a:srgbClr val="890C25"/>
      </a:hlink>
      <a:folHlink>
        <a:srgbClr val="890C25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MSU_Maroon&amp;Grey.thmx</Template>
  <TotalTime>15279</TotalTime>
  <Words>492</Words>
  <Application>Microsoft Office PowerPoint</Application>
  <PresentationFormat>On-screen Show (4:3)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Aharoni</vt:lpstr>
      <vt:lpstr>Arial</vt:lpstr>
      <vt:lpstr>Calibri</vt:lpstr>
      <vt:lpstr>Cambria Math</vt:lpstr>
      <vt:lpstr>Century Gothic</vt:lpstr>
      <vt:lpstr>Futura Bk BT</vt:lpstr>
      <vt:lpstr>Palatino Linotype</vt:lpstr>
      <vt:lpstr>Times New Roman</vt:lpstr>
      <vt:lpstr>Wingdings</vt:lpstr>
      <vt:lpstr>MSU_Maroon&amp;Grey</vt:lpstr>
      <vt:lpstr>PowerPoint Presentation</vt:lpstr>
      <vt:lpstr>Outline</vt:lpstr>
      <vt:lpstr>Overview</vt:lpstr>
      <vt:lpstr>Methodology</vt:lpstr>
      <vt:lpstr>Methodology</vt:lpstr>
      <vt:lpstr>Methodology</vt:lpstr>
      <vt:lpstr>Results</vt:lpstr>
      <vt:lpstr>Results</vt:lpstr>
      <vt:lpstr>Results</vt:lpstr>
      <vt:lpstr>Conclusion</vt:lpstr>
      <vt:lpstr>References</vt:lpstr>
      <vt:lpstr>Thank You!</vt:lpstr>
    </vt:vector>
  </TitlesOfParts>
  <Company>Mississippi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Heather Rowe</dc:creator>
  <cp:lastModifiedBy>Nabi, M M</cp:lastModifiedBy>
  <cp:revision>978</cp:revision>
  <cp:lastPrinted>2018-10-16T14:24:06Z</cp:lastPrinted>
  <dcterms:created xsi:type="dcterms:W3CDTF">2015-07-09T18:42:12Z</dcterms:created>
  <dcterms:modified xsi:type="dcterms:W3CDTF">2021-05-12T16:51:11Z</dcterms:modified>
</cp:coreProperties>
</file>